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DEMO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that researches companies and builds go-to-market strategies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45920" cy="1097280"/>
          </a:xfrm>
          <a:prstGeom prst="rect">
            <a:avLst/>
          </a:prstGeom>
          <a:solidFill>
            <a:srgbClr val="1E1E1E"/>
          </a:solidFill>
          <a:ln w="15240">
            <a:solidFill>
              <a:srgbClr val="F8FAFC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YOU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"Analyze Acme Corp"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1965960"/>
            <a:ext cx="457200" cy="0"/>
          </a:xfrm>
          <a:prstGeom prst="line">
            <a:avLst/>
          </a:prstGeom>
          <a:noFill/>
          <a:ln w="31750">
            <a:solidFill>
              <a:srgbClr val="444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CE7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34640" y="1234440"/>
            <a:ext cx="8686800" cy="1554480"/>
          </a:xfrm>
          <a:prstGeom prst="rect">
            <a:avLst/>
          </a:prstGeom>
          <a:solidFill>
            <a:srgbClr val="444CE7">
              <a:alpha val="5000"/>
            </a:srgbClr>
          </a:solidFill>
          <a:ln w="25400">
            <a:solidFill>
              <a:srgbClr val="444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HARNESS (running on Temporal)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600200"/>
            <a:ext cx="2286000" cy="1005840"/>
          </a:xfrm>
          <a:prstGeom prst="rect">
            <a:avLst/>
          </a:prstGeom>
          <a:solidFill>
            <a:srgbClr val="1E1E1E"/>
          </a:solidFill>
          <a:ln w="15240">
            <a:solidFill>
              <a:srgbClr val="444C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6916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566160" y="16642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4612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website, news,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financials, competitors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1600200"/>
            <a:ext cx="2286000" cy="1005840"/>
          </a:xfrm>
          <a:prstGeom prst="rect">
            <a:avLst/>
          </a:prstGeom>
          <a:solidFill>
            <a:srgbClr val="1E1E1E"/>
          </a:solidFill>
          <a:ln w="15240">
            <a:solidFill>
              <a:srgbClr val="444C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916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126480" y="16642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80644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fit, positioning,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analysis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229600" y="1600200"/>
            <a:ext cx="2286000" cy="1005840"/>
          </a:xfrm>
          <a:prstGeom prst="rect">
            <a:avLst/>
          </a:prstGeom>
          <a:solidFill>
            <a:srgbClr val="1E1E1E"/>
          </a:solidFill>
          <a:ln w="15240">
            <a:solidFill>
              <a:srgbClr val="444C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916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0" y="16642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6676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playbook,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items, report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406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CE7">
                    <a:alpha val="50000"/>
                  </a:srgbClr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00100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CE7">
                    <a:alpha val="50000"/>
                  </a:srgbClr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31520" y="3200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THE AGENT CAN WORK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457200" y="3703320"/>
            <a:ext cx="3474720" cy="23774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C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8620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685800" y="4297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in, text out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85800" y="4663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does everything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shot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8580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tools, no code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206240" y="3703320"/>
            <a:ext cx="3474720" cy="2377440"/>
          </a:xfrm>
          <a:prstGeom prst="rect">
            <a:avLst/>
          </a:prstGeom>
          <a:solidFill>
            <a:srgbClr val="1E1E1E"/>
          </a:solidFill>
          <a:ln w="19050">
            <a:solidFill>
              <a:srgbClr val="444C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886200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84632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4434840" y="4297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→ Act → Observe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434840" y="4663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calls tools in a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search, extract, analyze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43484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predefined by engineers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7955280" y="3703320"/>
            <a:ext cx="3474720" cy="2377440"/>
          </a:xfrm>
          <a:prstGeom prst="rect">
            <a:avLst/>
          </a:prstGeom>
          <a:solidFill>
            <a:srgbClr val="444CE7">
              <a:alpha val="8000"/>
            </a:srgbClr>
          </a:solidFill>
          <a:ln w="31750">
            <a:solidFill>
              <a:srgbClr val="444C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388620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59536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CODEACT</a:t>
            </a:r>
            <a:endParaRPr lang="en-US" sz="1800" dirty="0"/>
          </a:p>
        </p:txBody>
      </p:sp>
      <p:sp>
        <p:nvSpPr>
          <p:cNvPr id="40" name="Text 32"/>
          <p:cNvSpPr/>
          <p:nvPr/>
        </p:nvSpPr>
        <p:spPr>
          <a:xfrm>
            <a:off x="8183880" y="4297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writes a workflow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8183880" y="4663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Temporal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runtime — then runs it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818388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this is the interesting one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task, same harness, three levels of agent autonomy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ZOOMING INTO CODEACT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doesn't just call tools — it writes an entire Temporal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3840480"/>
          </a:xfrm>
          <a:prstGeom prst="rect">
            <a:avLst/>
          </a:prstGeom>
          <a:solidFill>
            <a:srgbClr val="1E1E1E"/>
          </a:solidFill>
          <a:ln w="19050">
            <a:solidFill>
              <a:srgbClr val="F8FAFC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627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WRITES CODE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runtime, on the fly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2423160"/>
            <a:ext cx="2286000" cy="1280160"/>
          </a:xfrm>
          <a:prstGeom prst="rect">
            <a:avLst/>
          </a:prstGeom>
          <a:solidFill>
            <a:srgbClr val="0D0D0D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5146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@workflow.defn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GenWorkflow: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def run(self):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LLM-generated plan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+ activities + client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97280" y="4251960"/>
            <a:ext cx="1463040" cy="320040"/>
          </a:xfrm>
          <a:prstGeom prst="rect">
            <a:avLst/>
          </a:prstGeom>
          <a:solidFill>
            <a:srgbClr val="E54545">
              <a:alpha val="15000"/>
            </a:srgbClr>
          </a:solidFill>
          <a:ln w="12700">
            <a:solidFill>
              <a:srgbClr val="E545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4251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3200400"/>
            <a:ext cx="548640" cy="0"/>
          </a:xfrm>
          <a:prstGeom prst="line">
            <a:avLst/>
          </a:prstGeom>
          <a:noFill/>
          <a:ln w="31750">
            <a:solidFill>
              <a:srgbClr val="444C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03320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CE7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23360" y="1325880"/>
            <a:ext cx="7772400" cy="4251960"/>
          </a:xfrm>
          <a:prstGeom prst="rect">
            <a:avLst/>
          </a:prstGeom>
          <a:solidFill>
            <a:srgbClr val="444CE7">
              <a:alpha val="4000"/>
            </a:srgbClr>
          </a:solidFill>
          <a:ln w="31750">
            <a:solidFill>
              <a:srgbClr val="444C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1417320"/>
            <a:ext cx="3474720" cy="320040"/>
          </a:xfrm>
          <a:prstGeom prst="rect">
            <a:avLst/>
          </a:prstGeom>
          <a:solidFill>
            <a:srgbClr val="444CE7">
              <a:alpha val="1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29768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DURABILITY ENVELOPE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89120" y="1965960"/>
            <a:ext cx="3474720" cy="3291840"/>
          </a:xfrm>
          <a:prstGeom prst="rect">
            <a:avLst/>
          </a:prstGeom>
          <a:solidFill>
            <a:srgbClr val="1E1E1E"/>
          </a:solidFill>
          <a:ln w="15240">
            <a:solidFill>
              <a:srgbClr val="444C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0312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+ REPAIR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57200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durable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88036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29200" y="2862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Compiles?</a:t>
            </a:r>
            <a:endParaRPr lang="en-US" sz="13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246120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29200" y="3227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anti-patterns?</a:t>
            </a:r>
            <a:endParaRPr lang="en-US" sz="13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611880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29200" y="3593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9 primitives?</a:t>
            </a:r>
            <a:endParaRPr lang="en-US" sz="13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977640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29200" y="3959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if needed</a:t>
            </a:r>
            <a:endParaRPr lang="en-US" sz="13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926080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95160" y="3154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457200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CE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mid-repair?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44CE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replays.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7955280" y="3474720"/>
            <a:ext cx="457200" cy="0"/>
          </a:xfrm>
          <a:prstGeom prst="line">
            <a:avLst/>
          </a:prstGeom>
          <a:noFill/>
          <a:ln w="25400">
            <a:solidFill>
              <a:srgbClr val="444CE7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827532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CE7"/>
                </a:solidFill>
              </a:rPr>
              <a:t>▶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8503920" y="1965960"/>
            <a:ext cx="3017520" cy="3291840"/>
          </a:xfrm>
          <a:prstGeom prst="rect">
            <a:avLst/>
          </a:prstGeom>
          <a:solidFill>
            <a:srgbClr val="1E1E1E"/>
          </a:solidFill>
          <a:ln w="15240">
            <a:solidFill>
              <a:srgbClr val="444C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2103120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00684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600" dirty="0"/>
          </a:p>
        </p:txBody>
      </p:sp>
      <p:sp>
        <p:nvSpPr>
          <p:cNvPr id="38" name="Text 28"/>
          <p:cNvSpPr/>
          <p:nvPr/>
        </p:nvSpPr>
        <p:spPr>
          <a:xfrm>
            <a:off x="868680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validated code</a:t>
            </a:r>
            <a:endParaRPr lang="en-US" sz="12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0" y="2926080"/>
            <a:ext cx="256032" cy="25603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9235440" y="29077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Crash? Resume.</a:t>
            </a:r>
            <a:endParaRPr lang="en-US" sz="15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9680" y="3429000"/>
            <a:ext cx="256032" cy="25603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9235440" y="34107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Fail? Retry.</a:t>
            </a:r>
            <a:endParaRPr lang="en-US" sz="15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9680" y="3931920"/>
            <a:ext cx="256032" cy="25603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9235440" y="3913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Done? Saved.</a:t>
            </a:r>
            <a:endParaRPr lang="en-US" sz="1500" dirty="0"/>
          </a:p>
        </p:txBody>
      </p:sp>
      <p:sp>
        <p:nvSpPr>
          <p:cNvPr id="45" name="Text 32"/>
          <p:cNvSpPr/>
          <p:nvPr/>
        </p:nvSpPr>
        <p:spPr>
          <a:xfrm>
            <a:off x="8686800" y="4572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CE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mid-execution?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44CE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replays.</a:t>
            </a:r>
            <a:endParaRPr lang="en-US" sz="1000" dirty="0"/>
          </a:p>
        </p:txBody>
      </p:sp>
      <p:sp>
        <p:nvSpPr>
          <p:cNvPr id="46" name="Shape 33"/>
          <p:cNvSpPr/>
          <p:nvPr/>
        </p:nvSpPr>
        <p:spPr>
          <a:xfrm>
            <a:off x="1371600" y="5852160"/>
            <a:ext cx="9418320" cy="777240"/>
          </a:xfrm>
          <a:prstGeom prst="rect">
            <a:avLst/>
          </a:prstGeom>
          <a:solidFill>
            <a:srgbClr val="444CE7">
              <a:alpha val="6000"/>
            </a:srgbClr>
          </a:solidFill>
          <a:ln w="12700">
            <a:solidFill>
              <a:srgbClr val="444CE7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1371600" y="585216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The LLM wrote the code. </a:t>
            </a:r>
            <a:pPr algn="ctr" indent="0" marL="0">
              <a:buNone/>
            </a:pPr>
            <a:r>
              <a:rPr lang="en-US" sz="1600" b="1" dirty="0">
                <a:solidFill>
                  <a:srgbClr val="444CE7"/>
                </a:solidFill>
              </a:rPr>
              <a:t>Temporal made everything durable — even the validation.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REAL BUSINESS, YOU'RE NOT ALONE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 using Cowork isn't always the person who approves the next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2560320" cy="2560320"/>
          </a:xfrm>
          <a:prstGeom prst="rect">
            <a:avLst/>
          </a:prstGeom>
          <a:solidFill>
            <a:srgbClr val="1E1E1E"/>
          </a:solidFill>
          <a:ln w="19050">
            <a:solidFill>
              <a:srgbClr val="444C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88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GENERATES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2860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completes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analysis,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 deliverable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deck,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review,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forecast...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 — needs approval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17520" y="2926080"/>
            <a:ext cx="457200" cy="0"/>
          </a:xfrm>
          <a:prstGeom prst="line">
            <a:avLst/>
          </a:prstGeom>
          <a:noFill/>
          <a:ln w="25400">
            <a:solidFill>
              <a:srgbClr val="444C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CE7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66160" y="1645920"/>
            <a:ext cx="2560320" cy="2560320"/>
          </a:xfrm>
          <a:prstGeom prst="rect">
            <a:avLst/>
          </a:prstGeom>
          <a:solidFill>
            <a:srgbClr val="444CE7">
              <a:alpha val="7000"/>
            </a:srgbClr>
          </a:solidFill>
          <a:ln w="31750">
            <a:solidFill>
              <a:srgbClr val="444C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8288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WAITS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79476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Durably.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794760" y="2606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Hours. Days. Weeks.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polling. No cron jobs.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state in a database.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 Temporal signal.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79476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workflow.signal(approve)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2926080"/>
            <a:ext cx="457200" cy="0"/>
          </a:xfrm>
          <a:prstGeom prst="line">
            <a:avLst/>
          </a:prstGeom>
          <a:noFill/>
          <a:ln w="25400">
            <a:solidFill>
              <a:srgbClr val="444CE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3796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CE7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766560" y="1645920"/>
            <a:ext cx="2560320" cy="2560320"/>
          </a:xfrm>
          <a:prstGeom prst="rect">
            <a:avLst/>
          </a:prstGeom>
          <a:solidFill>
            <a:srgbClr val="1E1E1E"/>
          </a:solidFill>
          <a:ln w="25400">
            <a:solidFill>
              <a:srgbClr val="28C8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82880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36092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APPROVES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995160" y="22860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VP, Legal, Finance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whoever owns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99516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person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triggered the task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00"/>
            <a:ext cx="365760" cy="36576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418320" y="2926080"/>
            <a:ext cx="457200" cy="0"/>
          </a:xfrm>
          <a:prstGeom prst="line">
            <a:avLst/>
          </a:prstGeom>
          <a:noFill/>
          <a:ln w="25400">
            <a:solidFill>
              <a:srgbClr val="444CE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73836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CE7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966960" y="1645920"/>
            <a:ext cx="2011680" cy="2560320"/>
          </a:xfrm>
          <a:prstGeom prst="rect">
            <a:avLst/>
          </a:prstGeom>
          <a:solidFill>
            <a:srgbClr val="444CE7">
              <a:alpha val="12000"/>
            </a:srgbClr>
          </a:solidFill>
          <a:ln w="31750">
            <a:solidFill>
              <a:srgbClr val="444C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182880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14984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4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AUTO-RESUMES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10149840" y="2606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re-trigger.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in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loop.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014984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phase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731520" y="4754880"/>
            <a:ext cx="10698480" cy="1005840"/>
          </a:xfrm>
          <a:prstGeom prst="rect">
            <a:avLst/>
          </a:prstGeom>
          <a:solidFill>
            <a:srgbClr val="444CE7">
              <a:alpha val="6000"/>
            </a:srgbClr>
          </a:solidFill>
          <a:ln w="12700">
            <a:solidFill>
              <a:srgbClr val="444CE7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Durability isn't just crash recovery.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44CE7"/>
                </a:solidFill>
              </a:rPr>
              <a:t>It's the ability to wait — for days — and pick up exactly where you left off.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signals turn approval workflows from fragile state machines into durable conversations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CodeAct &amp; Temporal Durability</dc:title>
  <dc:subject>PptxGenJS Presentation</dc:subject>
  <dc:creator>Naresh Shah</dc:creator>
  <cp:lastModifiedBy>Naresh Shah</cp:lastModifiedBy>
  <cp:revision>1</cp:revision>
  <dcterms:created xsi:type="dcterms:W3CDTF">2026-05-25T05:01:36Z</dcterms:created>
  <dcterms:modified xsi:type="dcterms:W3CDTF">2026-05-25T05:01:36Z</dcterms:modified>
</cp:coreProperties>
</file>